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</p:sldIdLst>
  <p:sldSz cx="32918400" cy="43891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E60"/>
    <a:srgbClr val="2F5597"/>
    <a:srgbClr val="001F60"/>
    <a:srgbClr val="44536A"/>
    <a:srgbClr val="CBFFFF"/>
    <a:srgbClr val="CC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6531" autoAdjust="0"/>
    <p:restoredTop sz="94660"/>
  </p:normalViewPr>
  <p:slideViewPr>
    <p:cSldViewPr snapToGrid="0">
      <p:cViewPr>
        <p:scale>
          <a:sx n="33" d="100"/>
          <a:sy n="33" d="100"/>
        </p:scale>
        <p:origin x="1061" y="-2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 Naresh" userId="9fd2a78f5a7fc297" providerId="LiveId" clId="{1E561071-7FD5-4C05-B243-809866C93473}"/>
    <pc:docChg chg="undo custSel modSld">
      <pc:chgData name="Ram Naresh" userId="9fd2a78f5a7fc297" providerId="LiveId" clId="{1E561071-7FD5-4C05-B243-809866C93473}" dt="2025-12-19T18:47:31.353" v="1246" actId="14100"/>
      <pc:docMkLst>
        <pc:docMk/>
      </pc:docMkLst>
      <pc:sldChg chg="addSp delSp modSp mod">
        <pc:chgData name="Ram Naresh" userId="9fd2a78f5a7fc297" providerId="LiveId" clId="{1E561071-7FD5-4C05-B243-809866C93473}" dt="2025-12-19T18:47:31.353" v="1246" actId="14100"/>
        <pc:sldMkLst>
          <pc:docMk/>
          <pc:sldMk cId="3647180834" sldId="257"/>
        </pc:sldMkLst>
        <pc:spChg chg="add mod">
          <ac:chgData name="Ram Naresh" userId="9fd2a78f5a7fc297" providerId="LiveId" clId="{1E561071-7FD5-4C05-B243-809866C93473}" dt="2025-12-12T14:07:33.733" v="8" actId="1076"/>
          <ac:spMkLst>
            <pc:docMk/>
            <pc:sldMk cId="3647180834" sldId="257"/>
            <ac:spMk id="3" creationId="{81D9538F-94AF-02F9-7886-54FD4AF3E757}"/>
          </ac:spMkLst>
        </pc:spChg>
        <pc:spChg chg="mod">
          <ac:chgData name="Ram Naresh" userId="9fd2a78f5a7fc297" providerId="LiveId" clId="{1E561071-7FD5-4C05-B243-809866C93473}" dt="2025-12-12T17:42:58.323" v="461" actId="14100"/>
          <ac:spMkLst>
            <pc:docMk/>
            <pc:sldMk cId="3647180834" sldId="257"/>
            <ac:spMk id="5" creationId="{3B0235A0-2572-4A92-B190-C0B6675B715D}"/>
          </ac:spMkLst>
        </pc:spChg>
        <pc:spChg chg="add mod">
          <ac:chgData name="Ram Naresh" userId="9fd2a78f5a7fc297" providerId="LiveId" clId="{1E561071-7FD5-4C05-B243-809866C93473}" dt="2025-12-12T14:35:13.031" v="334"/>
          <ac:spMkLst>
            <pc:docMk/>
            <pc:sldMk cId="3647180834" sldId="257"/>
            <ac:spMk id="7" creationId="{BDCE337F-9BA1-8899-A578-EB80CAE0FAA2}"/>
          </ac:spMkLst>
        </pc:spChg>
        <pc:spChg chg="mod">
          <ac:chgData name="Ram Naresh" userId="9fd2a78f5a7fc297" providerId="LiveId" clId="{1E561071-7FD5-4C05-B243-809866C93473}" dt="2025-12-19T18:46:56.084" v="1245" actId="20577"/>
          <ac:spMkLst>
            <pc:docMk/>
            <pc:sldMk cId="3647180834" sldId="257"/>
            <ac:spMk id="8" creationId="{3FAEAF50-BAD8-4265-ACA3-060C143128B2}"/>
          </ac:spMkLst>
        </pc:spChg>
        <pc:spChg chg="add">
          <ac:chgData name="Ram Naresh" userId="9fd2a78f5a7fc297" providerId="LiveId" clId="{1E561071-7FD5-4C05-B243-809866C93473}" dt="2025-12-19T17:39:05.921" v="912"/>
          <ac:spMkLst>
            <pc:docMk/>
            <pc:sldMk cId="3647180834" sldId="257"/>
            <ac:spMk id="11" creationId="{4053D6E1-8469-CE07-7F5D-814C058BE36A}"/>
          </ac:spMkLst>
        </pc:spChg>
        <pc:spChg chg="add mod">
          <ac:chgData name="Ram Naresh" userId="9fd2a78f5a7fc297" providerId="LiveId" clId="{1E561071-7FD5-4C05-B243-809866C93473}" dt="2025-12-19T18:39:05.093" v="1226" actId="20577"/>
          <ac:spMkLst>
            <pc:docMk/>
            <pc:sldMk cId="3647180834" sldId="257"/>
            <ac:spMk id="11" creationId="{F77A6B0A-EC7B-E3D4-7A07-DC92B795E588}"/>
          </ac:spMkLst>
        </pc:spChg>
        <pc:spChg chg="add">
          <ac:chgData name="Ram Naresh" userId="9fd2a78f5a7fc297" providerId="LiveId" clId="{1E561071-7FD5-4C05-B243-809866C93473}" dt="2025-12-19T17:39:12.956" v="913"/>
          <ac:spMkLst>
            <pc:docMk/>
            <pc:sldMk cId="3647180834" sldId="257"/>
            <ac:spMk id="12" creationId="{1F47DBD5-FAFD-E8D1-EDD3-A863982B6565}"/>
          </ac:spMkLst>
        </pc:spChg>
        <pc:spChg chg="mod">
          <ac:chgData name="Ram Naresh" userId="9fd2a78f5a7fc297" providerId="LiveId" clId="{1E561071-7FD5-4C05-B243-809866C93473}" dt="2025-12-19T17:33:22.423" v="856" actId="20577"/>
          <ac:spMkLst>
            <pc:docMk/>
            <pc:sldMk cId="3647180834" sldId="257"/>
            <ac:spMk id="16" creationId="{89E55233-AC6E-4ED2-BB2B-E465EEC4993D}"/>
          </ac:spMkLst>
        </pc:spChg>
        <pc:spChg chg="mod">
          <ac:chgData name="Ram Naresh" userId="9fd2a78f5a7fc297" providerId="LiveId" clId="{1E561071-7FD5-4C05-B243-809866C93473}" dt="2025-12-19T17:59:21.732" v="1203" actId="20577"/>
          <ac:spMkLst>
            <pc:docMk/>
            <pc:sldMk cId="3647180834" sldId="257"/>
            <ac:spMk id="20" creationId="{B8741319-A3BD-4620-83AD-0AF5C7DD4299}"/>
          </ac:spMkLst>
        </pc:spChg>
        <pc:spChg chg="add">
          <ac:chgData name="Ram Naresh" userId="9fd2a78f5a7fc297" providerId="LiveId" clId="{1E561071-7FD5-4C05-B243-809866C93473}" dt="2025-12-19T17:55:15.291" v="1149"/>
          <ac:spMkLst>
            <pc:docMk/>
            <pc:sldMk cId="3647180834" sldId="257"/>
            <ac:spMk id="21" creationId="{7EB7EB4F-48DD-8DAA-34E4-5B419EE6F9B8}"/>
          </ac:spMkLst>
        </pc:spChg>
        <pc:spChg chg="mod">
          <ac:chgData name="Ram Naresh" userId="9fd2a78f5a7fc297" providerId="LiveId" clId="{1E561071-7FD5-4C05-B243-809866C93473}" dt="2025-12-19T17:25:56.977" v="634"/>
          <ac:spMkLst>
            <pc:docMk/>
            <pc:sldMk cId="3647180834" sldId="257"/>
            <ac:spMk id="23" creationId="{5E7F043A-DE96-8AF3-BD97-FCC50CE5AE52}"/>
          </ac:spMkLst>
        </pc:spChg>
        <pc:spChg chg="add mod">
          <ac:chgData name="Ram Naresh" userId="9fd2a78f5a7fc297" providerId="LiveId" clId="{1E561071-7FD5-4C05-B243-809866C93473}" dt="2025-12-19T17:55:27.781" v="1153"/>
          <ac:spMkLst>
            <pc:docMk/>
            <pc:sldMk cId="3647180834" sldId="257"/>
            <ac:spMk id="26" creationId="{320A445B-055B-4350-7F4D-54CAB7334B77}"/>
          </ac:spMkLst>
        </pc:spChg>
        <pc:spChg chg="mod">
          <ac:chgData name="Ram Naresh" userId="9fd2a78f5a7fc297" providerId="LiveId" clId="{1E561071-7FD5-4C05-B243-809866C93473}" dt="2025-12-19T17:57:40.427" v="1169"/>
          <ac:spMkLst>
            <pc:docMk/>
            <pc:sldMk cId="3647180834" sldId="257"/>
            <ac:spMk id="27" creationId="{05B0BBE0-0E8D-AAB2-E67F-621691725803}"/>
          </ac:spMkLst>
        </pc:spChg>
        <pc:spChg chg="mod">
          <ac:chgData name="Ram Naresh" userId="9fd2a78f5a7fc297" providerId="LiveId" clId="{1E561071-7FD5-4C05-B243-809866C93473}" dt="2025-12-12T17:43:48.795" v="470" actId="1076"/>
          <ac:spMkLst>
            <pc:docMk/>
            <pc:sldMk cId="3647180834" sldId="257"/>
            <ac:spMk id="31" creationId="{784A641E-EB68-0B57-C75B-2BB09F3A7E66}"/>
          </ac:spMkLst>
        </pc:spChg>
        <pc:spChg chg="add mod">
          <ac:chgData name="Ram Naresh" userId="9fd2a78f5a7fc297" providerId="LiveId" clId="{1E561071-7FD5-4C05-B243-809866C93473}" dt="2025-12-19T17:55:27.399" v="1152"/>
          <ac:spMkLst>
            <pc:docMk/>
            <pc:sldMk cId="3647180834" sldId="257"/>
            <ac:spMk id="34" creationId="{CBE97B95-9145-CD6C-791C-FF60DE6634D6}"/>
          </ac:spMkLst>
        </pc:spChg>
        <pc:spChg chg="add mod">
          <ac:chgData name="Ram Naresh" userId="9fd2a78f5a7fc297" providerId="LiveId" clId="{1E561071-7FD5-4C05-B243-809866C93473}" dt="2025-12-19T18:25:53.248" v="1217" actId="20577"/>
          <ac:spMkLst>
            <pc:docMk/>
            <pc:sldMk cId="3647180834" sldId="257"/>
            <ac:spMk id="35" creationId="{4DBDAECF-A1BC-4BFE-6294-69B1710E7720}"/>
          </ac:spMkLst>
        </pc:spChg>
        <pc:spChg chg="add">
          <ac:chgData name="Ram Naresh" userId="9fd2a78f5a7fc297" providerId="LiveId" clId="{1E561071-7FD5-4C05-B243-809866C93473}" dt="2025-12-19T17:55:49.300" v="1154"/>
          <ac:spMkLst>
            <pc:docMk/>
            <pc:sldMk cId="3647180834" sldId="257"/>
            <ac:spMk id="37" creationId="{4DDD159F-65A5-FD82-F350-A0A641B243FD}"/>
          </ac:spMkLst>
        </pc:spChg>
        <pc:spChg chg="add">
          <ac:chgData name="Ram Naresh" userId="9fd2a78f5a7fc297" providerId="LiveId" clId="{1E561071-7FD5-4C05-B243-809866C93473}" dt="2025-12-19T17:55:52.340" v="1156"/>
          <ac:spMkLst>
            <pc:docMk/>
            <pc:sldMk cId="3647180834" sldId="257"/>
            <ac:spMk id="38" creationId="{BEF9E263-FC18-8B2B-C83B-8BDE177BD0FC}"/>
          </ac:spMkLst>
        </pc:spChg>
        <pc:spChg chg="add mod">
          <ac:chgData name="Ram Naresh" userId="9fd2a78f5a7fc297" providerId="LiveId" clId="{1E561071-7FD5-4C05-B243-809866C93473}" dt="2025-12-12T17:38:44.783" v="419" actId="767"/>
          <ac:spMkLst>
            <pc:docMk/>
            <pc:sldMk cId="3647180834" sldId="257"/>
            <ac:spMk id="40" creationId="{B433505C-C2F4-BDF2-3F09-06536636A78F}"/>
          </ac:spMkLst>
        </pc:spChg>
        <pc:spChg chg="add mod">
          <ac:chgData name="Ram Naresh" userId="9fd2a78f5a7fc297" providerId="LiveId" clId="{1E561071-7FD5-4C05-B243-809866C93473}" dt="2025-12-12T17:38:47.020" v="420" actId="767"/>
          <ac:spMkLst>
            <pc:docMk/>
            <pc:sldMk cId="3647180834" sldId="257"/>
            <ac:spMk id="43" creationId="{B6081B00-C7B0-E618-41F2-BD1E4325A355}"/>
          </ac:spMkLst>
        </pc:spChg>
        <pc:spChg chg="add mod">
          <ac:chgData name="Ram Naresh" userId="9fd2a78f5a7fc297" providerId="LiveId" clId="{1E561071-7FD5-4C05-B243-809866C93473}" dt="2025-12-12T17:38:47.857" v="421" actId="767"/>
          <ac:spMkLst>
            <pc:docMk/>
            <pc:sldMk cId="3647180834" sldId="257"/>
            <ac:spMk id="45" creationId="{E75574F9-644F-31BD-22C5-5B754481CC99}"/>
          </ac:spMkLst>
        </pc:spChg>
        <pc:spChg chg="mod">
          <ac:chgData name="Ram Naresh" userId="9fd2a78f5a7fc297" providerId="LiveId" clId="{1E561071-7FD5-4C05-B243-809866C93473}" dt="2025-12-19T18:45:18.714" v="1236" actId="1076"/>
          <ac:spMkLst>
            <pc:docMk/>
            <pc:sldMk cId="3647180834" sldId="257"/>
            <ac:spMk id="48" creationId="{B0DBF370-BF8E-4C1F-942A-9E733BBE2F62}"/>
          </ac:spMkLst>
        </pc:spChg>
        <pc:spChg chg="mod">
          <ac:chgData name="Ram Naresh" userId="9fd2a78f5a7fc297" providerId="LiveId" clId="{1E561071-7FD5-4C05-B243-809866C93473}" dt="2025-12-19T18:45:11.196" v="1234" actId="1076"/>
          <ac:spMkLst>
            <pc:docMk/>
            <pc:sldMk cId="3647180834" sldId="257"/>
            <ac:spMk id="50" creationId="{565BCE6E-C04F-40A9-AF95-1B74899AAFF9}"/>
          </ac:spMkLst>
        </pc:spChg>
        <pc:spChg chg="mod">
          <ac:chgData name="Ram Naresh" userId="9fd2a78f5a7fc297" providerId="LiveId" clId="{1E561071-7FD5-4C05-B243-809866C93473}" dt="2025-12-12T17:38:00.878" v="410" actId="14100"/>
          <ac:spMkLst>
            <pc:docMk/>
            <pc:sldMk cId="3647180834" sldId="257"/>
            <ac:spMk id="55" creationId="{4D3C0A94-ACB5-8955-17AC-36A74A861F16}"/>
          </ac:spMkLst>
        </pc:spChg>
        <pc:spChg chg="mod">
          <ac:chgData name="Ram Naresh" userId="9fd2a78f5a7fc297" providerId="LiveId" clId="{1E561071-7FD5-4C05-B243-809866C93473}" dt="2025-12-12T14:22:17.837" v="263" actId="255"/>
          <ac:spMkLst>
            <pc:docMk/>
            <pc:sldMk cId="3647180834" sldId="257"/>
            <ac:spMk id="62" creationId="{59E57F97-7A56-49D2-860B-1DE9EC66138F}"/>
          </ac:spMkLst>
        </pc:spChg>
        <pc:spChg chg="mod">
          <ac:chgData name="Ram Naresh" userId="9fd2a78f5a7fc297" providerId="LiveId" clId="{1E561071-7FD5-4C05-B243-809866C93473}" dt="2025-12-19T17:53:01.525" v="1144" actId="313"/>
          <ac:spMkLst>
            <pc:docMk/>
            <pc:sldMk cId="3647180834" sldId="257"/>
            <ac:spMk id="63" creationId="{3A0A9B9A-103F-0C80-B2F6-F7504B143877}"/>
          </ac:spMkLst>
        </pc:spChg>
        <pc:spChg chg="mod">
          <ac:chgData name="Ram Naresh" userId="9fd2a78f5a7fc297" providerId="LiveId" clId="{1E561071-7FD5-4C05-B243-809866C93473}" dt="2025-12-12T14:25:29.762" v="308" actId="255"/>
          <ac:spMkLst>
            <pc:docMk/>
            <pc:sldMk cId="3647180834" sldId="257"/>
            <ac:spMk id="65" creationId="{E97E6259-26BA-7459-CD08-6DB95BE18DD5}"/>
          </ac:spMkLst>
        </pc:spChg>
        <pc:grpChg chg="mod">
          <ac:chgData name="Ram Naresh" userId="9fd2a78f5a7fc297" providerId="LiveId" clId="{1E561071-7FD5-4C05-B243-809866C93473}" dt="2025-12-19T17:25:56.977" v="634"/>
          <ac:grpSpMkLst>
            <pc:docMk/>
            <pc:sldMk cId="3647180834" sldId="257"/>
            <ac:grpSpMk id="24" creationId="{3E51C210-4C06-F3EA-1C78-AE50197104A2}"/>
          </ac:grpSpMkLst>
        </pc:grpChg>
        <pc:grpChg chg="mod">
          <ac:chgData name="Ram Naresh" userId="9fd2a78f5a7fc297" providerId="LiveId" clId="{1E561071-7FD5-4C05-B243-809866C93473}" dt="2025-12-19T17:57:40.427" v="1169"/>
          <ac:grpSpMkLst>
            <pc:docMk/>
            <pc:sldMk cId="3647180834" sldId="257"/>
            <ac:grpSpMk id="29" creationId="{E34DCC94-F986-DA78-7B83-9F27485406E8}"/>
          </ac:grpSpMkLst>
        </pc:grpChg>
        <pc:graphicFrameChg chg="add del mod modGraphic">
          <ac:chgData name="Ram Naresh" userId="9fd2a78f5a7fc297" providerId="LiveId" clId="{1E561071-7FD5-4C05-B243-809866C93473}" dt="2025-12-19T17:51:06.425" v="1136"/>
          <ac:graphicFrameMkLst>
            <pc:docMk/>
            <pc:sldMk cId="3647180834" sldId="257"/>
            <ac:graphicFrameMk id="60" creationId="{414F3DDA-186F-9A9A-9D9E-6D74BBD987D1}"/>
          </ac:graphicFrameMkLst>
        </pc:graphicFrameChg>
        <pc:graphicFrameChg chg="add del mod modGraphic">
          <ac:chgData name="Ram Naresh" userId="9fd2a78f5a7fc297" providerId="LiveId" clId="{1E561071-7FD5-4C05-B243-809866C93473}" dt="2025-12-12T14:26:38.462" v="316" actId="14100"/>
          <ac:graphicFrameMkLst>
            <pc:docMk/>
            <pc:sldMk cId="3647180834" sldId="257"/>
            <ac:graphicFrameMk id="61" creationId="{01EE042A-0B7D-25B4-4D0C-6474B8208C52}"/>
          </ac:graphicFrameMkLst>
        </pc:graphicFrameChg>
        <pc:picChg chg="add mod">
          <ac:chgData name="Ram Naresh" userId="9fd2a78f5a7fc297" providerId="LiveId" clId="{1E561071-7FD5-4C05-B243-809866C93473}" dt="2025-12-19T18:47:31.353" v="1246" actId="14100"/>
          <ac:picMkLst>
            <pc:docMk/>
            <pc:sldMk cId="3647180834" sldId="257"/>
            <ac:picMk id="21" creationId="{726BCE37-921D-B9E5-343E-6CF1798B9BFD}"/>
          </ac:picMkLst>
        </pc:picChg>
        <pc:picChg chg="del mod">
          <ac:chgData name="Ram Naresh" userId="9fd2a78f5a7fc297" providerId="LiveId" clId="{1E561071-7FD5-4C05-B243-809866C93473}" dt="2025-12-19T18:44:49.117" v="1230" actId="478"/>
          <ac:picMkLst>
            <pc:docMk/>
            <pc:sldMk cId="3647180834" sldId="257"/>
            <ac:picMk id="58" creationId="{7AF302B8-E43D-B6B2-AC4F-938C2605394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7183123"/>
            <a:ext cx="27980640" cy="15280640"/>
          </a:xfrm>
        </p:spPr>
        <p:txBody>
          <a:bodyPr anchor="b"/>
          <a:lstStyle>
            <a:lvl1pPr algn="ctr"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23053043"/>
            <a:ext cx="24688800" cy="10596877"/>
          </a:xfrm>
        </p:spPr>
        <p:txBody>
          <a:bodyPr/>
          <a:lstStyle>
            <a:lvl1pPr marL="0" indent="0" algn="ctr">
              <a:buNone/>
              <a:defRPr sz="8640"/>
            </a:lvl1pPr>
            <a:lvl2pPr marL="1645920" indent="0" algn="ctr">
              <a:buNone/>
              <a:defRPr sz="7200"/>
            </a:lvl2pPr>
            <a:lvl3pPr marL="3291840" indent="0" algn="ctr">
              <a:buNone/>
              <a:defRPr sz="6480"/>
            </a:lvl3pPr>
            <a:lvl4pPr marL="4937760" indent="0" algn="ctr">
              <a:buNone/>
              <a:defRPr sz="5760"/>
            </a:lvl4pPr>
            <a:lvl5pPr marL="6583680" indent="0" algn="ctr">
              <a:buNone/>
              <a:defRPr sz="5760"/>
            </a:lvl5pPr>
            <a:lvl6pPr marL="8229600" indent="0" algn="ctr">
              <a:buNone/>
              <a:defRPr sz="5760"/>
            </a:lvl6pPr>
            <a:lvl7pPr marL="9875520" indent="0" algn="ctr">
              <a:buNone/>
              <a:defRPr sz="5760"/>
            </a:lvl7pPr>
            <a:lvl8pPr marL="11521440" indent="0" algn="ctr">
              <a:buNone/>
              <a:defRPr sz="5760"/>
            </a:lvl8pPr>
            <a:lvl9pPr marL="13167360" indent="0" algn="ctr">
              <a:buNone/>
              <a:defRPr sz="5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5A7A6-A70F-4C7C-B07A-E035C6A67E2F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06410-220F-4D9B-9264-AB20B0B167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3735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5A7A6-A70F-4C7C-B07A-E035C6A67E2F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06410-220F-4D9B-9264-AB20B0B167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031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7" y="10942333"/>
            <a:ext cx="28392120" cy="18257517"/>
          </a:xfrm>
        </p:spPr>
        <p:txBody>
          <a:bodyPr anchor="b"/>
          <a:lstStyle>
            <a:lvl1pPr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7" y="29372573"/>
            <a:ext cx="28392120" cy="9601197"/>
          </a:xfrm>
        </p:spPr>
        <p:txBody>
          <a:bodyPr/>
          <a:lstStyle>
            <a:lvl1pPr marL="0" indent="0">
              <a:buNone/>
              <a:defRPr sz="8640">
                <a:solidFill>
                  <a:schemeClr val="tx1"/>
                </a:solidFill>
              </a:defRPr>
            </a:lvl1pPr>
            <a:lvl2pPr marL="1645920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2pPr>
            <a:lvl3pPr marL="3291840" indent="0">
              <a:buNone/>
              <a:defRPr sz="6480">
                <a:solidFill>
                  <a:schemeClr val="tx1">
                    <a:tint val="75000"/>
                  </a:schemeClr>
                </a:solidFill>
              </a:defRPr>
            </a:lvl3pPr>
            <a:lvl4pPr marL="49377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4pPr>
            <a:lvl5pPr marL="658368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5pPr>
            <a:lvl6pPr marL="822960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6pPr>
            <a:lvl7pPr marL="987552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7pPr>
            <a:lvl8pPr marL="1152144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8pPr>
            <a:lvl9pPr marL="131673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5A7A6-A70F-4C7C-B07A-E035C6A67E2F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06410-220F-4D9B-9264-AB20B0B167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449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11684000"/>
            <a:ext cx="13990320" cy="278485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11684000"/>
            <a:ext cx="13990320" cy="278485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5A7A6-A70F-4C7C-B07A-E035C6A67E2F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06410-220F-4D9B-9264-AB20B0B167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2832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336810"/>
            <a:ext cx="28392120" cy="848360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31" y="10759443"/>
            <a:ext cx="13926024" cy="5273037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31" y="16032480"/>
            <a:ext cx="13926024" cy="235813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2" y="10759443"/>
            <a:ext cx="13994608" cy="5273037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2" y="16032480"/>
            <a:ext cx="13994608" cy="235813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5A7A6-A70F-4C7C-B07A-E035C6A67E2F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06410-220F-4D9B-9264-AB20B0B167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5683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5A7A6-A70F-4C7C-B07A-E035C6A67E2F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06410-220F-4D9B-9264-AB20B0B167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8547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5A7A6-A70F-4C7C-B07A-E035C6A67E2F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06410-220F-4D9B-9264-AB20B0B167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1180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926080"/>
            <a:ext cx="10617041" cy="1024128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6319530"/>
            <a:ext cx="16664940" cy="31191200"/>
          </a:xfrm>
        </p:spPr>
        <p:txBody>
          <a:bodyPr/>
          <a:lstStyle>
            <a:lvl1pPr>
              <a:defRPr sz="11520"/>
            </a:lvl1pPr>
            <a:lvl2pPr>
              <a:defRPr sz="10080"/>
            </a:lvl2pPr>
            <a:lvl3pPr>
              <a:defRPr sz="864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13167360"/>
            <a:ext cx="10617041" cy="24394163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5A7A6-A70F-4C7C-B07A-E035C6A67E2F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06410-220F-4D9B-9264-AB20B0B167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0870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926080"/>
            <a:ext cx="10617041" cy="1024128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4608" y="6319530"/>
            <a:ext cx="16664940" cy="31191200"/>
          </a:xfrm>
        </p:spPr>
        <p:txBody>
          <a:bodyPr anchor="t"/>
          <a:lstStyle>
            <a:lvl1pPr marL="0" indent="0">
              <a:buNone/>
              <a:defRPr sz="11520"/>
            </a:lvl1pPr>
            <a:lvl2pPr marL="1645920" indent="0">
              <a:buNone/>
              <a:defRPr sz="10080"/>
            </a:lvl2pPr>
            <a:lvl3pPr marL="3291840" indent="0">
              <a:buNone/>
              <a:defRPr sz="8640"/>
            </a:lvl3pPr>
            <a:lvl4pPr marL="4937760" indent="0">
              <a:buNone/>
              <a:defRPr sz="7200"/>
            </a:lvl4pPr>
            <a:lvl5pPr marL="6583680" indent="0">
              <a:buNone/>
              <a:defRPr sz="7200"/>
            </a:lvl5pPr>
            <a:lvl6pPr marL="8229600" indent="0">
              <a:buNone/>
              <a:defRPr sz="7200"/>
            </a:lvl6pPr>
            <a:lvl7pPr marL="9875520" indent="0">
              <a:buNone/>
              <a:defRPr sz="7200"/>
            </a:lvl7pPr>
            <a:lvl8pPr marL="11521440" indent="0">
              <a:buNone/>
              <a:defRPr sz="7200"/>
            </a:lvl8pPr>
            <a:lvl9pPr marL="13167360" indent="0">
              <a:buNone/>
              <a:defRPr sz="7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13167360"/>
            <a:ext cx="10617041" cy="24394163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5A7A6-A70F-4C7C-B07A-E035C6A67E2F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06410-220F-4D9B-9264-AB20B0B167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955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5A7A6-A70F-4C7C-B07A-E035C6A67E2F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06410-220F-4D9B-9264-AB20B0B167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1255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2" y="2336800"/>
            <a:ext cx="7098030" cy="37195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2" y="2336800"/>
            <a:ext cx="20882610" cy="3719576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5A7A6-A70F-4C7C-B07A-E035C6A67E2F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06410-220F-4D9B-9264-AB20B0B167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8977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2336810"/>
            <a:ext cx="28392120" cy="8483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11684000"/>
            <a:ext cx="28392120" cy="27848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45A7A6-A70F-4C7C-B07A-E035C6A67E2F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06410-220F-4D9B-9264-AB20B0B167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1734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5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Triangle 4">
            <a:extLst>
              <a:ext uri="{FF2B5EF4-FFF2-40B4-BE49-F238E27FC236}">
                <a16:creationId xmlns:a16="http://schemas.microsoft.com/office/drawing/2014/main" id="{3B0235A0-2572-4A92-B190-C0B6675B715D}"/>
              </a:ext>
            </a:extLst>
          </p:cNvPr>
          <p:cNvSpPr/>
          <p:nvPr/>
        </p:nvSpPr>
        <p:spPr>
          <a:xfrm rot="10800000" flipH="1">
            <a:off x="946161" y="76246289"/>
            <a:ext cx="8792482" cy="130642"/>
          </a:xfrm>
          <a:prstGeom prst="rtTriangl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34DCC94-F986-DA78-7B83-9F27485406E8}"/>
              </a:ext>
            </a:extLst>
          </p:cNvPr>
          <p:cNvGrpSpPr/>
          <p:nvPr/>
        </p:nvGrpSpPr>
        <p:grpSpPr>
          <a:xfrm>
            <a:off x="839850" y="22639703"/>
            <a:ext cx="12671884" cy="10525941"/>
            <a:chOff x="794345" y="26193863"/>
            <a:chExt cx="12671884" cy="968351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8741319-A3BD-4620-83AD-0AF5C7DD4299}"/>
                </a:ext>
              </a:extLst>
            </p:cNvPr>
            <p:cNvSpPr txBox="1"/>
            <p:nvPr/>
          </p:nvSpPr>
          <p:spPr>
            <a:xfrm>
              <a:off x="805518" y="26945889"/>
              <a:ext cx="12512494" cy="89314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IN" sz="285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Outcome:</a:t>
              </a:r>
              <a:r>
                <a:rPr lang="en-IN" sz="28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Cognitive functioning (binary/score mapped to analytic outcome in logistic/PSM analyses).</a:t>
              </a:r>
            </a:p>
            <a:p>
              <a:pPr algn="just">
                <a:lnSpc>
                  <a:spcPct val="150000"/>
                </a:lnSpc>
              </a:pPr>
              <a:r>
                <a:rPr lang="en-IN" sz="285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Exposure:</a:t>
              </a:r>
              <a:r>
                <a:rPr lang="en-IN" sz="28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Religious engagement (binary-religious vs non-religious, as coded in LASI for this analysis).</a:t>
              </a:r>
              <a:endParaRPr lang="en-US" sz="285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lvl="0" algn="just">
                <a:lnSpc>
                  <a:spcPct val="150000"/>
                </a:lnSpc>
              </a:pPr>
              <a:r>
                <a:rPr lang="en-IN" sz="285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Covariates</a:t>
              </a:r>
              <a:r>
                <a:rPr lang="en-IN" sz="28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age, sex, education, caste, region, residence (rural/urban), marital status, wealth index, physical activity, alcohol and tobacco use, ADL/IADL etc</a:t>
              </a:r>
            </a:p>
            <a:p>
              <a:pPr algn="just">
                <a:lnSpc>
                  <a:spcPct val="150000"/>
                </a:lnSpc>
              </a:pPr>
              <a:r>
                <a:rPr lang="en-US" sz="285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STATISTICAL ANALYSIS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200" b="1" dirty="0"/>
                <a:t>Chi-square tests</a:t>
              </a:r>
              <a:r>
                <a:rPr lang="en-US" sz="3200" dirty="0"/>
                <a:t> were used to examine bivariate associations between religious engagement and cognitive functioning.</a:t>
              </a:r>
              <a:endParaRPr lang="en-US" sz="3200" b="1" dirty="0"/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200" b="1" dirty="0"/>
                <a:t>Unadjusted logistic regression</a:t>
              </a:r>
              <a:r>
                <a:rPr lang="en-US" sz="3200" dirty="0"/>
                <a:t> estimated crude odds ratios, </a:t>
              </a:r>
              <a:r>
                <a:rPr lang="en-US" sz="3200" b="1" dirty="0"/>
                <a:t>Adjusted logistic regression</a:t>
              </a:r>
              <a:r>
                <a:rPr lang="en-US" sz="3200" dirty="0"/>
                <a:t> controlled for socio-demographic variables.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200" dirty="0"/>
                <a:t> </a:t>
              </a:r>
              <a:r>
                <a:rPr lang="en-US" sz="3200" b="1" dirty="0"/>
                <a:t>PSM </a:t>
              </a:r>
              <a:r>
                <a:rPr lang="en-US" sz="3200" dirty="0"/>
                <a:t>applied to control confounding, with balance diagnostics and robustness checks confirming result stability </a:t>
              </a:r>
              <a:r>
                <a:rPr lang="en-IN" sz="3200" dirty="0"/>
                <a:t>using causal estimators.</a:t>
              </a:r>
              <a:endParaRPr lang="en-US" sz="3200" dirty="0"/>
            </a:p>
            <a:p>
              <a:pPr algn="just">
                <a:lnSpc>
                  <a:spcPct val="150000"/>
                </a:lnSpc>
              </a:pPr>
              <a:endParaRPr lang="en-IN" sz="28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5B0BBE0-0E8D-AAB2-E67F-621691725803}"/>
                </a:ext>
              </a:extLst>
            </p:cNvPr>
            <p:cNvSpPr/>
            <p:nvPr/>
          </p:nvSpPr>
          <p:spPr>
            <a:xfrm>
              <a:off x="794345" y="26193863"/>
              <a:ext cx="12671884" cy="9286914"/>
            </a:xfrm>
            <a:prstGeom prst="rect">
              <a:avLst/>
            </a:prstGeom>
            <a:noFill/>
            <a:ln w="19050">
              <a:solidFill>
                <a:srgbClr val="001E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B9D0B43F-8597-4A11-997E-F880C4426543}"/>
              </a:ext>
            </a:extLst>
          </p:cNvPr>
          <p:cNvSpPr/>
          <p:nvPr/>
        </p:nvSpPr>
        <p:spPr>
          <a:xfrm>
            <a:off x="0" y="0"/>
            <a:ext cx="32918400" cy="57912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AEAF50-BAD8-4265-ACA3-060C143128B2}"/>
              </a:ext>
            </a:extLst>
          </p:cNvPr>
          <p:cNvSpPr txBox="1"/>
          <p:nvPr/>
        </p:nvSpPr>
        <p:spPr>
          <a:xfrm>
            <a:off x="3210703" y="-53646"/>
            <a:ext cx="25922767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2nd International Conference 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Longevity and Aging 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(Virtual)</a:t>
            </a:r>
            <a:endParaRPr lang="en-US" sz="6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fontAlgn="base"/>
            <a:r>
              <a:rPr lang="en-IN" sz="6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 20th - 22nd, 2025</a:t>
            </a:r>
            <a:br>
              <a:rPr lang="en-IN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fontAlgn="base"/>
            <a:r>
              <a:rPr lang="en-IN" sz="60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Religious Engagement and Cognitive Function Among Older Adults in India: Evidence from LASI Wave 1</a:t>
            </a:r>
          </a:p>
          <a:p>
            <a:pPr algn="ctr" fontAlgn="base"/>
            <a:r>
              <a:rPr lang="en-IN" sz="35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Ramnaresh, Shubham Tiwari, Tribeni Sonowal, </a:t>
            </a:r>
            <a:r>
              <a:rPr lang="en-IN" sz="36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Abhishek</a:t>
            </a:r>
            <a:r>
              <a:rPr lang="en-IN" sz="35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Anand</a:t>
            </a:r>
            <a:br>
              <a:rPr lang="en-IN" sz="35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5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Institute for Population Sciences</a:t>
            </a:r>
            <a:endParaRPr lang="en-IN" sz="35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E916908-7361-473E-A21B-9C6A4BAA58AA}"/>
              </a:ext>
            </a:extLst>
          </p:cNvPr>
          <p:cNvCxnSpPr>
            <a:cxnSpLocks/>
          </p:cNvCxnSpPr>
          <p:nvPr/>
        </p:nvCxnSpPr>
        <p:spPr>
          <a:xfrm flipH="1">
            <a:off x="27152600" y="7823201"/>
            <a:ext cx="1301478" cy="0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1F8A23D1-EA20-4E1B-9C48-E936A41A8743}"/>
              </a:ext>
            </a:extLst>
          </p:cNvPr>
          <p:cNvSpPr txBox="1"/>
          <p:nvPr/>
        </p:nvSpPr>
        <p:spPr>
          <a:xfrm>
            <a:off x="14070951" y="6448924"/>
            <a:ext cx="18308237" cy="769441"/>
          </a:xfrm>
          <a:prstGeom prst="rect">
            <a:avLst/>
          </a:prstGeom>
          <a:solidFill>
            <a:srgbClr val="001F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E8136FB-BA12-4E9D-AAB4-A441D0098E49}"/>
              </a:ext>
            </a:extLst>
          </p:cNvPr>
          <p:cNvSpPr/>
          <p:nvPr/>
        </p:nvSpPr>
        <p:spPr>
          <a:xfrm>
            <a:off x="14306550" y="7669733"/>
            <a:ext cx="833099" cy="76944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DC07995-3E1F-4FFD-86C9-C66C035CABD3}"/>
              </a:ext>
            </a:extLst>
          </p:cNvPr>
          <p:cNvSpPr txBox="1"/>
          <p:nvPr/>
        </p:nvSpPr>
        <p:spPr>
          <a:xfrm>
            <a:off x="16172086" y="7678918"/>
            <a:ext cx="13423719" cy="742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32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BALANCE PLOT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0DBF370-BF8E-4C1F-942A-9E733BBE2F62}"/>
              </a:ext>
            </a:extLst>
          </p:cNvPr>
          <p:cNvSpPr/>
          <p:nvPr/>
        </p:nvSpPr>
        <p:spPr>
          <a:xfrm>
            <a:off x="14426593" y="17163786"/>
            <a:ext cx="833099" cy="93239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65BCE6E-C04F-40A9-AF95-1B74899AAFF9}"/>
              </a:ext>
            </a:extLst>
          </p:cNvPr>
          <p:cNvSpPr txBox="1"/>
          <p:nvPr/>
        </p:nvSpPr>
        <p:spPr>
          <a:xfrm>
            <a:off x="15186541" y="17212559"/>
            <a:ext cx="15609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LOVE PLOT (STANDARDIZED % BIAS ACROSS COVIRIATES)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B71F815-2153-4B21-8F69-43588A0FCC64}"/>
              </a:ext>
            </a:extLst>
          </p:cNvPr>
          <p:cNvSpPr txBox="1"/>
          <p:nvPr/>
        </p:nvSpPr>
        <p:spPr>
          <a:xfrm>
            <a:off x="14328217" y="24603202"/>
            <a:ext cx="17793701" cy="1329275"/>
          </a:xfrm>
          <a:prstGeom prst="rect">
            <a:avLst/>
          </a:prstGeom>
          <a:noFill/>
          <a:ln>
            <a:solidFill>
              <a:srgbClr val="001E60"/>
            </a:solidFill>
          </a:ln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IN" sz="28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Love Plot (Standardized % Bias Across Covariates):</a:t>
            </a:r>
            <a:r>
              <a:rPr lang="en-IN" sz="28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large biases before matching (&gt;40% for several covariates) and marked reduction to near zero after matching. (Include the actual plot produced via </a:t>
            </a:r>
            <a:r>
              <a:rPr lang="en-IN" sz="28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pstest</a:t>
            </a:r>
            <a:r>
              <a:rPr lang="en-IN" sz="28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graph.)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AFBE4F6-78A3-4EB8-9F09-75589EF8AE04}"/>
              </a:ext>
            </a:extLst>
          </p:cNvPr>
          <p:cNvSpPr/>
          <p:nvPr/>
        </p:nvSpPr>
        <p:spPr>
          <a:xfrm>
            <a:off x="14308257" y="26400927"/>
            <a:ext cx="833099" cy="76944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9E57F97-7A56-49D2-860B-1DE9EC66138F}"/>
              </a:ext>
            </a:extLst>
          </p:cNvPr>
          <p:cNvSpPr txBox="1"/>
          <p:nvPr/>
        </p:nvSpPr>
        <p:spPr>
          <a:xfrm>
            <a:off x="15362323" y="26400927"/>
            <a:ext cx="151094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SUPPORT SUMMARY FROM PROPENSITY SCORE MATCHING</a:t>
            </a:r>
            <a:endParaRPr lang="en-IN" sz="3200" b="1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BCA679-9F53-FFF6-AAF6-371E11A22E53}"/>
              </a:ext>
            </a:extLst>
          </p:cNvPr>
          <p:cNvSpPr/>
          <p:nvPr/>
        </p:nvSpPr>
        <p:spPr>
          <a:xfrm>
            <a:off x="14070951" y="6448923"/>
            <a:ext cx="18308237" cy="37239077"/>
          </a:xfrm>
          <a:prstGeom prst="rect">
            <a:avLst/>
          </a:prstGeom>
          <a:noFill/>
          <a:ln w="19050">
            <a:solidFill>
              <a:srgbClr val="001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14152D-86BB-79AC-02C5-A0E7D90A5635}"/>
              </a:ext>
            </a:extLst>
          </p:cNvPr>
          <p:cNvSpPr txBox="1"/>
          <p:nvPr/>
        </p:nvSpPr>
        <p:spPr>
          <a:xfrm>
            <a:off x="843801" y="6448924"/>
            <a:ext cx="12687938" cy="769441"/>
          </a:xfrm>
          <a:prstGeom prst="rect">
            <a:avLst/>
          </a:prstGeom>
          <a:solidFill>
            <a:srgbClr val="001F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1DDFBA8-3AC8-1AEC-F915-B080BF56A4B5}"/>
              </a:ext>
            </a:extLst>
          </p:cNvPr>
          <p:cNvGrpSpPr/>
          <p:nvPr/>
        </p:nvGrpSpPr>
        <p:grpSpPr>
          <a:xfrm>
            <a:off x="834201" y="6448923"/>
            <a:ext cx="12671884" cy="8513265"/>
            <a:chOff x="834201" y="6448923"/>
            <a:chExt cx="12671884" cy="8513265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2DD0738-1E58-4065-9AD0-509CCE084A9F}"/>
                </a:ext>
              </a:extLst>
            </p:cNvPr>
            <p:cNvSpPr txBox="1"/>
            <p:nvPr/>
          </p:nvSpPr>
          <p:spPr>
            <a:xfrm>
              <a:off x="1086517" y="7394464"/>
              <a:ext cx="12070873" cy="72501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8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Approximately 80% of research on Religion &amp; Spirituality (R/S) and health involves studies on mental health. R/S involvement consists of psychological, social, and behavioral aspects that are more “proximally” related to mental health than to physical health (</a:t>
              </a:r>
              <a:r>
                <a:rPr lang="en-IN" sz="28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Koenig, 2012).</a:t>
              </a:r>
              <a:endParaRPr lang="en-US" sz="28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8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overall prevalence of cognitive impairment among the older population is found to be substantially high with 13.7 % (Muhammad &amp; Meher (2021).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8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Social engagements of older adults specially to the family-based care and support, beneficial effects of religiosity and religious involvement helps on mental health and cognitive function in older age.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8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Studies have revealed that spiritual and religious beliefs results in better cognitive outcomes.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1B70603-AF8E-C5F9-C1F6-DBE10C84E33E}"/>
                </a:ext>
              </a:extLst>
            </p:cNvPr>
            <p:cNvSpPr/>
            <p:nvPr/>
          </p:nvSpPr>
          <p:spPr>
            <a:xfrm>
              <a:off x="834201" y="6448923"/>
              <a:ext cx="12671884" cy="8513265"/>
            </a:xfrm>
            <a:prstGeom prst="rect">
              <a:avLst/>
            </a:prstGeom>
            <a:noFill/>
            <a:ln w="19050">
              <a:solidFill>
                <a:srgbClr val="001E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4499429-0D30-E92D-7D8C-2228385C6E8E}"/>
              </a:ext>
            </a:extLst>
          </p:cNvPr>
          <p:cNvSpPr txBox="1"/>
          <p:nvPr/>
        </p:nvSpPr>
        <p:spPr>
          <a:xfrm>
            <a:off x="843801" y="15215160"/>
            <a:ext cx="12687938" cy="769441"/>
          </a:xfrm>
          <a:prstGeom prst="rect">
            <a:avLst/>
          </a:prstGeom>
          <a:solidFill>
            <a:srgbClr val="001F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7BA003D-4886-08D5-26FC-6BB428747D28}"/>
              </a:ext>
            </a:extLst>
          </p:cNvPr>
          <p:cNvGrpSpPr/>
          <p:nvPr/>
        </p:nvGrpSpPr>
        <p:grpSpPr>
          <a:xfrm>
            <a:off x="834201" y="15212447"/>
            <a:ext cx="12671884" cy="2508512"/>
            <a:chOff x="834201" y="15212446"/>
            <a:chExt cx="12671884" cy="5223331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510C9D5-F81B-436B-A552-F06681FCAD59}"/>
                </a:ext>
              </a:extLst>
            </p:cNvPr>
            <p:cNvSpPr txBox="1"/>
            <p:nvPr/>
          </p:nvSpPr>
          <p:spPr>
            <a:xfrm>
              <a:off x="1221595" y="16841455"/>
              <a:ext cx="11673493" cy="1329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lvl="0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28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Estimate the association and causation between religious engagement and cognitive function among older adults in India.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32C6CC2-52F2-CDA1-82EB-EF943459061F}"/>
                </a:ext>
              </a:extLst>
            </p:cNvPr>
            <p:cNvSpPr/>
            <p:nvPr/>
          </p:nvSpPr>
          <p:spPr>
            <a:xfrm>
              <a:off x="834201" y="15212446"/>
              <a:ext cx="12671884" cy="5223331"/>
            </a:xfrm>
            <a:prstGeom prst="rect">
              <a:avLst/>
            </a:prstGeom>
            <a:noFill/>
            <a:ln w="19050">
              <a:solidFill>
                <a:srgbClr val="001E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A2258F86-2B2C-72E5-25BB-1BF2EF532DED}"/>
              </a:ext>
            </a:extLst>
          </p:cNvPr>
          <p:cNvSpPr txBox="1"/>
          <p:nvPr/>
        </p:nvSpPr>
        <p:spPr>
          <a:xfrm>
            <a:off x="839063" y="18048457"/>
            <a:ext cx="12687938" cy="769441"/>
          </a:xfrm>
          <a:prstGeom prst="rect">
            <a:avLst/>
          </a:prstGeom>
          <a:solidFill>
            <a:srgbClr val="001F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SOURCE</a:t>
            </a:r>
            <a:endParaRPr lang="en-IN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E51C210-4C06-F3EA-1C78-AE50197104A2}"/>
              </a:ext>
            </a:extLst>
          </p:cNvPr>
          <p:cNvGrpSpPr/>
          <p:nvPr/>
        </p:nvGrpSpPr>
        <p:grpSpPr>
          <a:xfrm>
            <a:off x="834201" y="18114446"/>
            <a:ext cx="12671884" cy="4924870"/>
            <a:chOff x="794345" y="20615538"/>
            <a:chExt cx="12671884" cy="608241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9E55233-AC6E-4ED2-BB2B-E465EEC4993D}"/>
                </a:ext>
              </a:extLst>
            </p:cNvPr>
            <p:cNvSpPr txBox="1"/>
            <p:nvPr/>
          </p:nvSpPr>
          <p:spPr>
            <a:xfrm>
              <a:off x="1086518" y="21706466"/>
              <a:ext cx="12070873" cy="49914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DATA: Cross-sectional data from the first wave of the Longitudinal Ageing Study in India (LASI, 2017–2018).</a:t>
              </a:r>
            </a:p>
            <a:p>
              <a:pPr>
                <a:lnSpc>
                  <a:spcPct val="150000"/>
                </a:lnSpc>
              </a:pPr>
              <a:r>
                <a:rPr lang="en-US" sz="28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SAMPLE: Nationally representative survey of older adults aged 45 and above (N = 68,407).</a:t>
              </a:r>
              <a:r>
                <a:rPr lang="en-US" sz="2800" dirty="0"/>
                <a:t> 4,990 missing observations were deleted.</a:t>
              </a:r>
            </a:p>
            <a:p>
              <a:pPr>
                <a:lnSpc>
                  <a:spcPct val="150000"/>
                </a:lnSpc>
              </a:pPr>
              <a:endParaRPr lang="en-US" sz="28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>
                <a:lnSpc>
                  <a:spcPct val="150000"/>
                </a:lnSpc>
                <a:spcAft>
                  <a:spcPts val="1200"/>
                </a:spcAft>
              </a:pPr>
              <a:endParaRPr lang="en-IN" sz="28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E7F043A-DE96-8AF3-BD97-FCC50CE5AE52}"/>
                </a:ext>
              </a:extLst>
            </p:cNvPr>
            <p:cNvSpPr/>
            <p:nvPr/>
          </p:nvSpPr>
          <p:spPr>
            <a:xfrm>
              <a:off x="794345" y="20615538"/>
              <a:ext cx="12671884" cy="4755361"/>
            </a:xfrm>
            <a:prstGeom prst="rect">
              <a:avLst/>
            </a:prstGeom>
            <a:noFill/>
            <a:ln w="19050">
              <a:solidFill>
                <a:srgbClr val="001E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AEA01DD0-FE46-AE73-FDF4-0074A6200BCC}"/>
              </a:ext>
            </a:extLst>
          </p:cNvPr>
          <p:cNvSpPr txBox="1"/>
          <p:nvPr/>
        </p:nvSpPr>
        <p:spPr>
          <a:xfrm>
            <a:off x="843801" y="22397544"/>
            <a:ext cx="12687938" cy="769441"/>
          </a:xfrm>
          <a:prstGeom prst="rect">
            <a:avLst/>
          </a:prstGeom>
          <a:solidFill>
            <a:srgbClr val="001F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84A641E-EB68-0B57-C75B-2BB09F3A7E66}"/>
              </a:ext>
            </a:extLst>
          </p:cNvPr>
          <p:cNvSpPr txBox="1"/>
          <p:nvPr/>
        </p:nvSpPr>
        <p:spPr>
          <a:xfrm>
            <a:off x="826174" y="33258334"/>
            <a:ext cx="12687938" cy="769441"/>
          </a:xfrm>
          <a:prstGeom prst="rect">
            <a:avLst/>
          </a:prstGeom>
          <a:solidFill>
            <a:srgbClr val="001F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8DA6E46-BD16-B128-6872-C1AC78D44C1D}"/>
              </a:ext>
            </a:extLst>
          </p:cNvPr>
          <p:cNvSpPr txBox="1"/>
          <p:nvPr/>
        </p:nvSpPr>
        <p:spPr>
          <a:xfrm>
            <a:off x="946161" y="42918559"/>
            <a:ext cx="12687938" cy="769441"/>
          </a:xfrm>
          <a:prstGeom prst="rect">
            <a:avLst/>
          </a:prstGeom>
          <a:solidFill>
            <a:srgbClr val="001F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CONTACT:9828416506 |nareshkuri40@gmail.com</a:t>
            </a:r>
            <a:endParaRPr lang="en-IN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538ED80-003A-C1E0-75F7-661DB2F3DE8F}"/>
              </a:ext>
            </a:extLst>
          </p:cNvPr>
          <p:cNvSpPr/>
          <p:nvPr/>
        </p:nvSpPr>
        <p:spPr>
          <a:xfrm>
            <a:off x="177800" y="879112"/>
            <a:ext cx="3210703" cy="37575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0" name="Picture 2" descr="iips | International Institute for Population Sciences (IIPS)">
            <a:extLst>
              <a:ext uri="{FF2B5EF4-FFF2-40B4-BE49-F238E27FC236}">
                <a16:creationId xmlns:a16="http://schemas.microsoft.com/office/drawing/2014/main" id="{8B6BE5D1-91B0-7FAF-23CF-CF3EA08DC5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00" y="898423"/>
            <a:ext cx="3224798" cy="3757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E8A69CE5-D476-BD0A-8836-C6BAF620A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95401" y="3397528"/>
            <a:ext cx="6045199" cy="2200250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4D3C0A94-ACB5-8955-17AC-36A74A861F16}"/>
              </a:ext>
            </a:extLst>
          </p:cNvPr>
          <p:cNvSpPr/>
          <p:nvPr/>
        </p:nvSpPr>
        <p:spPr>
          <a:xfrm>
            <a:off x="818149" y="33284943"/>
            <a:ext cx="12671884" cy="9144379"/>
          </a:xfrm>
          <a:prstGeom prst="rect">
            <a:avLst/>
          </a:prstGeom>
          <a:noFill/>
          <a:ln w="19050">
            <a:solidFill>
              <a:srgbClr val="001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2AC8B7F-9945-7049-0DBF-1204377952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9645" y="8471466"/>
            <a:ext cx="8881323" cy="7272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1879184D-4B57-640D-3764-C5C967EB43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25068" y="8453722"/>
            <a:ext cx="8700794" cy="727257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414F3DDA-186F-9A9A-9D9E-6D74BBD987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9999322"/>
              </p:ext>
            </p:extLst>
          </p:nvPr>
        </p:nvGraphicFramePr>
        <p:xfrm>
          <a:off x="15631985" y="34330512"/>
          <a:ext cx="15163900" cy="61013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531304">
                  <a:extLst>
                    <a:ext uri="{9D8B030D-6E8A-4147-A177-3AD203B41FA5}">
                      <a16:colId xmlns:a16="http://schemas.microsoft.com/office/drawing/2014/main" val="3443159271"/>
                    </a:ext>
                  </a:extLst>
                </a:gridCol>
                <a:gridCol w="1999726">
                  <a:extLst>
                    <a:ext uri="{9D8B030D-6E8A-4147-A177-3AD203B41FA5}">
                      <a16:colId xmlns:a16="http://schemas.microsoft.com/office/drawing/2014/main" val="920788546"/>
                    </a:ext>
                  </a:extLst>
                </a:gridCol>
                <a:gridCol w="2567310">
                  <a:extLst>
                    <a:ext uri="{9D8B030D-6E8A-4147-A177-3AD203B41FA5}">
                      <a16:colId xmlns:a16="http://schemas.microsoft.com/office/drawing/2014/main" val="1984006191"/>
                    </a:ext>
                  </a:extLst>
                </a:gridCol>
                <a:gridCol w="3032780">
                  <a:extLst>
                    <a:ext uri="{9D8B030D-6E8A-4147-A177-3AD203B41FA5}">
                      <a16:colId xmlns:a16="http://schemas.microsoft.com/office/drawing/2014/main" val="3027116072"/>
                    </a:ext>
                  </a:extLst>
                </a:gridCol>
                <a:gridCol w="3032780">
                  <a:extLst>
                    <a:ext uri="{9D8B030D-6E8A-4147-A177-3AD203B41FA5}">
                      <a16:colId xmlns:a16="http://schemas.microsoft.com/office/drawing/2014/main" val="2832442753"/>
                    </a:ext>
                  </a:extLst>
                </a:gridCol>
              </a:tblGrid>
              <a:tr h="11343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5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Effect Parameter</a:t>
                      </a:r>
                      <a:endParaRPr lang="en-IN" sz="28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5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Treated</a:t>
                      </a:r>
                      <a:endParaRPr lang="en-IN" sz="28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5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Controls</a:t>
                      </a:r>
                      <a:endParaRPr lang="en-IN" sz="28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5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Difference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5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P-value</a:t>
                      </a:r>
                      <a:endParaRPr lang="en-IN" sz="28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165282347"/>
                  </a:ext>
                </a:extLst>
              </a:tr>
              <a:tr h="163612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5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PSM: ATT (Avg. Treatment Effect on the Treated)</a:t>
                      </a:r>
                      <a:endParaRPr lang="en-IN" sz="28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5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.914920624</a:t>
                      </a:r>
                      <a:endParaRPr lang="en-IN" sz="28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5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.880335936</a:t>
                      </a:r>
                      <a:endParaRPr lang="en-IN" sz="28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5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.034584688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5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&lt;0.001</a:t>
                      </a:r>
                      <a:endParaRPr lang="en-IN" sz="28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928403320"/>
                  </a:ext>
                </a:extLst>
              </a:tr>
              <a:tr h="153656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5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PSM: ATU (</a:t>
                      </a:r>
                      <a:r>
                        <a:rPr lang="en-US" sz="3200" dirty="0"/>
                        <a:t>Average Treatment Effect on the Untreated</a:t>
                      </a:r>
                      <a:r>
                        <a:rPr lang="en-IN" sz="285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IN" sz="28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5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.914920624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5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.880335936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5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.065429149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5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&lt;0.001</a:t>
                      </a:r>
                      <a:endParaRPr lang="en-IN" sz="28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889695281"/>
                  </a:ext>
                </a:extLst>
              </a:tr>
              <a:tr h="163612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5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PSM: ATE (Avg. Treatment Effect on the Treated)</a:t>
                      </a:r>
                      <a:endParaRPr lang="en-IN" sz="28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28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28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5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0.39492346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85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&lt;0.001</a:t>
                      </a:r>
                      <a:endParaRPr lang="en-IN" sz="28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314452796"/>
                  </a:ext>
                </a:extLst>
              </a:tr>
            </a:tbl>
          </a:graphicData>
        </a:graphic>
      </p:graphicFrame>
      <p:graphicFrame>
        <p:nvGraphicFramePr>
          <p:cNvPr id="61" name="Table 60">
            <a:extLst>
              <a:ext uri="{FF2B5EF4-FFF2-40B4-BE49-F238E27FC236}">
                <a16:creationId xmlns:a16="http://schemas.microsoft.com/office/drawing/2014/main" id="{01EE042A-0B7D-25B4-4D0C-6474B8208C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402701"/>
              </p:ext>
            </p:extLst>
          </p:nvPr>
        </p:nvGraphicFramePr>
        <p:xfrm>
          <a:off x="15631987" y="27228323"/>
          <a:ext cx="15369015" cy="44227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23384">
                  <a:extLst>
                    <a:ext uri="{9D8B030D-6E8A-4147-A177-3AD203B41FA5}">
                      <a16:colId xmlns:a16="http://schemas.microsoft.com/office/drawing/2014/main" val="415931870"/>
                    </a:ext>
                  </a:extLst>
                </a:gridCol>
                <a:gridCol w="3932079">
                  <a:extLst>
                    <a:ext uri="{9D8B030D-6E8A-4147-A177-3AD203B41FA5}">
                      <a16:colId xmlns:a16="http://schemas.microsoft.com/office/drawing/2014/main" val="927531565"/>
                    </a:ext>
                  </a:extLst>
                </a:gridCol>
                <a:gridCol w="4056776">
                  <a:extLst>
                    <a:ext uri="{9D8B030D-6E8A-4147-A177-3AD203B41FA5}">
                      <a16:colId xmlns:a16="http://schemas.microsoft.com/office/drawing/2014/main" val="3572712480"/>
                    </a:ext>
                  </a:extLst>
                </a:gridCol>
                <a:gridCol w="4056776">
                  <a:extLst>
                    <a:ext uri="{9D8B030D-6E8A-4147-A177-3AD203B41FA5}">
                      <a16:colId xmlns:a16="http://schemas.microsoft.com/office/drawing/2014/main" val="4130890426"/>
                    </a:ext>
                  </a:extLst>
                </a:gridCol>
              </a:tblGrid>
              <a:tr h="135985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2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Treatment Assignment</a:t>
                      </a:r>
                      <a:endParaRPr lang="en-IN" sz="3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2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Off Support</a:t>
                      </a:r>
                      <a:endParaRPr lang="en-IN" sz="3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2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 Support</a:t>
                      </a:r>
                      <a:endParaRPr lang="en-IN" sz="3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buNone/>
                      </a:pPr>
                      <a:r>
                        <a:rPr lang="en-IN" sz="3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05848248"/>
                  </a:ext>
                </a:extLst>
              </a:tr>
              <a:tr h="77340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2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Untreated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200" kern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3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200" kern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10,882</a:t>
                      </a:r>
                      <a:endParaRPr lang="en-IN" sz="3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buNone/>
                      </a:pPr>
                      <a:r>
                        <a:rPr lang="en-IN" sz="3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10,884</a:t>
                      </a: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4182164925"/>
                  </a:ext>
                </a:extLst>
              </a:tr>
              <a:tr h="1454609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200" kern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Treated</a:t>
                      </a:r>
                      <a:endParaRPr lang="en-IN" sz="3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200" kern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IN" sz="3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200" kern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57,511</a:t>
                      </a:r>
                      <a:endParaRPr lang="en-IN" sz="3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buNone/>
                      </a:pPr>
                      <a:r>
                        <a:rPr lang="en-IN" sz="3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57,523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20736370"/>
                  </a:ext>
                </a:extLst>
              </a:tr>
              <a:tr h="83486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buNone/>
                      </a:pPr>
                      <a:r>
                        <a:rPr lang="en-IN" sz="3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IN" sz="3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14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buNone/>
                      </a:pPr>
                      <a:r>
                        <a:rPr lang="en-IN" sz="3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68,393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buNone/>
                      </a:pPr>
                      <a:r>
                        <a:rPr lang="en-IN" sz="3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68,407</a:t>
                      </a: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859043518"/>
                  </a:ext>
                </a:extLst>
              </a:tr>
            </a:tbl>
          </a:graphicData>
        </a:graphic>
      </p:graphicFrame>
      <p:sp>
        <p:nvSpPr>
          <p:cNvPr id="63" name="TextBox 62">
            <a:extLst>
              <a:ext uri="{FF2B5EF4-FFF2-40B4-BE49-F238E27FC236}">
                <a16:creationId xmlns:a16="http://schemas.microsoft.com/office/drawing/2014/main" id="{3A0A9B9A-103F-0C80-B2F6-F7504B143877}"/>
              </a:ext>
            </a:extLst>
          </p:cNvPr>
          <p:cNvSpPr txBox="1"/>
          <p:nvPr/>
        </p:nvSpPr>
        <p:spPr>
          <a:xfrm>
            <a:off x="14306551" y="41239341"/>
            <a:ext cx="17768049" cy="2229393"/>
          </a:xfrm>
          <a:prstGeom prst="rect">
            <a:avLst/>
          </a:prstGeom>
          <a:noFill/>
          <a:ln>
            <a:solidFill>
              <a:srgbClr val="001E60"/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dirty="0"/>
              <a:t>PSM results show that religious engagement is associated with a significant improvement in cognition. About 3.5 pp among the religious and nearly 4 pp on average, with even larger potential gains among the non-religious.</a:t>
            </a:r>
            <a:endParaRPr lang="en-IN" sz="2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97E6259-26BA-7459-CD08-6DB95BE18DD5}"/>
              </a:ext>
            </a:extLst>
          </p:cNvPr>
          <p:cNvSpPr txBox="1"/>
          <p:nvPr/>
        </p:nvSpPr>
        <p:spPr>
          <a:xfrm>
            <a:off x="15186541" y="33620079"/>
            <a:ext cx="16712277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 EFFECT ESTIMATES ACROSS CAUSAL MODELS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E8C4B0-B668-3151-70F8-3CAAF784A858}"/>
              </a:ext>
            </a:extLst>
          </p:cNvPr>
          <p:cNvSpPr txBox="1"/>
          <p:nvPr/>
        </p:nvSpPr>
        <p:spPr>
          <a:xfrm>
            <a:off x="14419645" y="15833273"/>
            <a:ext cx="17793701" cy="1307537"/>
          </a:xfrm>
          <a:prstGeom prst="rect">
            <a:avLst/>
          </a:prstGeom>
          <a:noFill/>
          <a:ln>
            <a:solidFill>
              <a:srgbClr val="001E60"/>
            </a:solidFill>
          </a:ln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 Plot (Propensity Score Distribution):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Kernel density of propensity scores by treatment before and after matching; shows common support and overlap post-matching.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D9538F-94AF-02F9-7886-54FD4AF3E757}"/>
              </a:ext>
            </a:extLst>
          </p:cNvPr>
          <p:cNvSpPr/>
          <p:nvPr/>
        </p:nvSpPr>
        <p:spPr>
          <a:xfrm>
            <a:off x="14353442" y="33643055"/>
            <a:ext cx="833099" cy="76944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CE337F-9BA1-8899-A578-EB80CAE0FAA2}"/>
              </a:ext>
            </a:extLst>
          </p:cNvPr>
          <p:cNvSpPr txBox="1"/>
          <p:nvPr/>
        </p:nvSpPr>
        <p:spPr>
          <a:xfrm>
            <a:off x="14379910" y="31832274"/>
            <a:ext cx="17793701" cy="1493358"/>
          </a:xfrm>
          <a:prstGeom prst="rect">
            <a:avLst/>
          </a:prstGeom>
          <a:noFill/>
          <a:ln>
            <a:solidFill>
              <a:srgbClr val="001E60"/>
            </a:solidFill>
          </a:ln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14 cases fall outside common support, with 68,393 (&gt;99.9%) retained, indicating excellent overlap and reliable PSM matching quality.</a:t>
            </a:r>
            <a:endParaRPr lang="en-IN" sz="2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433505C-C2F4-BDF2-3F09-06536636A78F}"/>
              </a:ext>
            </a:extLst>
          </p:cNvPr>
          <p:cNvSpPr txBox="1"/>
          <p:nvPr/>
        </p:nvSpPr>
        <p:spPr>
          <a:xfrm>
            <a:off x="16002000" y="2139696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6081B00-C7B0-E618-41F2-BD1E4325A355}"/>
              </a:ext>
            </a:extLst>
          </p:cNvPr>
          <p:cNvSpPr txBox="1"/>
          <p:nvPr/>
        </p:nvSpPr>
        <p:spPr>
          <a:xfrm>
            <a:off x="16002000" y="2139696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75574F9-644F-31BD-22C5-5B754481CC99}"/>
              </a:ext>
            </a:extLst>
          </p:cNvPr>
          <p:cNvSpPr txBox="1"/>
          <p:nvPr/>
        </p:nvSpPr>
        <p:spPr>
          <a:xfrm>
            <a:off x="16002000" y="2139696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DBDAECF-A1BC-4BFE-6294-69B1710E7720}"/>
              </a:ext>
            </a:extLst>
          </p:cNvPr>
          <p:cNvSpPr txBox="1"/>
          <p:nvPr/>
        </p:nvSpPr>
        <p:spPr>
          <a:xfrm>
            <a:off x="897844" y="34133379"/>
            <a:ext cx="12512494" cy="8138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1" dirty="0"/>
              <a:t>Descriptive analysis </a:t>
            </a:r>
            <a:r>
              <a:rPr lang="en-US" sz="3200" dirty="0"/>
              <a:t>indicates that 82% of older adults reported religious engagement, while the prevalence of poor cognition was 11% in the study sample.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PSM using a logit model (1:1 NN, caliper 0.1, common support) reduced mean bias from </a:t>
            </a:r>
            <a:r>
              <a:rPr lang="en-US" sz="3200" b="1" dirty="0"/>
              <a:t>22.7% to 2.1%</a:t>
            </a:r>
            <a:r>
              <a:rPr lang="en-US" sz="3200" dirty="0"/>
              <a:t> ,showing excellent balance.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More than </a:t>
            </a:r>
            <a:r>
              <a:rPr lang="en-US" sz="3200" b="1" dirty="0"/>
              <a:t>90% bias reduction</a:t>
            </a:r>
            <a:r>
              <a:rPr lang="en-US" sz="3200" dirty="0"/>
              <a:t> was achieved for most covariates; variance ratios were acceptable.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Before matching, the raw </a:t>
            </a:r>
            <a:r>
              <a:rPr lang="en-US" sz="3200" b="1" dirty="0"/>
              <a:t>outcome difference</a:t>
            </a:r>
            <a:r>
              <a:rPr lang="en-US" sz="3200" dirty="0"/>
              <a:t> was </a:t>
            </a:r>
            <a:r>
              <a:rPr lang="en-US" sz="3200" b="1" dirty="0"/>
              <a:t>12.3 Percentage(pp) </a:t>
            </a:r>
            <a:r>
              <a:rPr lang="en-US" sz="3200" dirty="0"/>
              <a:t>(0.9149 vs 0.7919). </a:t>
            </a:r>
            <a:r>
              <a:rPr lang="en-US" sz="3200" b="1" dirty="0"/>
              <a:t>After adjustment</a:t>
            </a:r>
            <a:r>
              <a:rPr lang="en-US" sz="3200" dirty="0"/>
              <a:t>, the </a:t>
            </a:r>
            <a:r>
              <a:rPr lang="en-US" sz="3200" b="1" dirty="0"/>
              <a:t>ATE was 3.95 pp </a:t>
            </a:r>
            <a:r>
              <a:rPr lang="en-US" sz="3200" dirty="0"/>
              <a:t>and the </a:t>
            </a:r>
            <a:r>
              <a:rPr lang="en-US" sz="3200" b="1" dirty="0"/>
              <a:t>ATU was 6.54 pp</a:t>
            </a:r>
            <a:r>
              <a:rPr lang="en-US" sz="3200" dirty="0"/>
              <a:t>, indicating an </a:t>
            </a:r>
            <a:r>
              <a:rPr lang="en-US" sz="3200" b="1" dirty="0"/>
              <a:t>overall ~4 pp </a:t>
            </a:r>
            <a:r>
              <a:rPr lang="en-US" sz="3200" dirty="0"/>
              <a:t>higher cognitive score associated with religious engagement.</a:t>
            </a:r>
            <a:endParaRPr lang="en-IN" sz="2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7A6B0A-EC7B-E3D4-7A07-DC92B795E588}"/>
              </a:ext>
            </a:extLst>
          </p:cNvPr>
          <p:cNvSpPr/>
          <p:nvPr/>
        </p:nvSpPr>
        <p:spPr>
          <a:xfrm>
            <a:off x="18380597" y="18305443"/>
            <a:ext cx="1805651" cy="3979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26BCE37-921D-B9E5-343E-6CF1798B9B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3395" y="17756791"/>
            <a:ext cx="14338381" cy="6783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180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10308</TotalTime>
  <Words>739</Words>
  <Application>Microsoft Office PowerPoint</Application>
  <PresentationFormat>Custom</PresentationFormat>
  <Paragraphs>75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Ram Naresh</cp:lastModifiedBy>
  <cp:revision>71</cp:revision>
  <dcterms:created xsi:type="dcterms:W3CDTF">2024-11-20T07:28:42Z</dcterms:created>
  <dcterms:modified xsi:type="dcterms:W3CDTF">2025-12-19T18:47:46Z</dcterms:modified>
</cp:coreProperties>
</file>